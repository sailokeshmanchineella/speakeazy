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9" r:id="rId7"/>
    <p:sldId id="264" r:id="rId8"/>
    <p:sldId id="263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F1A"/>
    <a:srgbClr val="85071C"/>
    <a:srgbClr val="FD35D2"/>
    <a:srgbClr val="1F4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13D44-BC9A-41E1-A1C2-BAA2896AB306}" v="21" dt="2023-10-04T07:50:50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15" y="-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98D00-A3B6-4D0F-8B1C-32FCC18E3D5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CD20C-4781-4EA8-AB9C-C8D15BC05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64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2D940-888E-4C8B-8BEB-C196EFB55D83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B4CBB-CC6F-4510-973B-F0781334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236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6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4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80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52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6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4CBB-CC6F-4510-973B-F078133484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1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6EE33-C326-433A-A38E-2B71D6BBC1E5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5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507C-91BE-414F-9B0B-F9613E03A994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8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EC71-D6AA-47FD-A54E-15340289E2BA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7147-0320-4363-8203-543B0133F4DE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7973-192A-43CE-BD35-278A5752FD37}" type="datetime1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AFAF-1A11-4FBC-88D8-AA812E98C7D3}" type="datetime1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8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D65C-00F6-4408-B66A-58B3444DAC12}" type="datetime1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9CEDC-E6C2-4DD2-9339-FFF8C68502D5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6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5F122-839A-43DE-8A5C-D3C84560C915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6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36B7-3625-41B3-B1FC-D6C51953F2A6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4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F652-C0F5-481D-A36B-9FC73AF9E1CA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3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A2310-33D5-435E-A44F-5B6010838595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B2C59-3266-410E-B1B0-1799FFBD1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8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17/06/relationships/model3d" Target="../media/model3d1.glb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hyperlink" Target="https://app.uizard.io/p/ec638e1e" TargetMode="External"/><Relationship Id="rId9" Type="http://schemas.openxmlformats.org/officeDocument/2006/relationships/image" Target="../media/image8.png"/><Relationship Id="rId14" Type="http://schemas.microsoft.com/office/2017/06/relationships/model3d" Target="../media/model3d2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 Sem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0" y="1527212"/>
            <a:ext cx="7532710" cy="3091442"/>
          </a:xfrm>
        </p:spPr>
        <p:txBody>
          <a:bodyPr>
            <a:normAutofit/>
          </a:bodyPr>
          <a:lstStyle/>
          <a:p>
            <a:pPr algn="l"/>
            <a:r>
              <a:rPr lang="en-IN" sz="2700" b="1" dirty="0">
                <a:solidFill>
                  <a:srgbClr val="EB5F1A"/>
                </a:solidFill>
              </a:rPr>
              <a:t>Project</a:t>
            </a:r>
            <a:r>
              <a:rPr lang="en-IN" sz="2700" b="1" dirty="0">
                <a:solidFill>
                  <a:schemeClr val="accent2">
                    <a:lumMod val="75000"/>
                  </a:schemeClr>
                </a:solidFill>
              </a:rPr>
              <a:t> Title: </a:t>
            </a:r>
            <a:r>
              <a:rPr lang="en-IN" sz="2700" b="1" dirty="0" err="1">
                <a:solidFill>
                  <a:srgbClr val="C00000"/>
                </a:solidFill>
              </a:rPr>
              <a:t>SpeakEazy</a:t>
            </a:r>
            <a:br>
              <a:rPr lang="en-IN" sz="2400" dirty="0">
                <a:solidFill>
                  <a:srgbClr val="C00000"/>
                </a:solidFill>
              </a:rPr>
            </a:br>
            <a:br>
              <a:rPr lang="en-IN" sz="2400" dirty="0">
                <a:solidFill>
                  <a:srgbClr val="C00000"/>
                </a:solidFill>
              </a:rPr>
            </a:br>
            <a:r>
              <a:rPr lang="en-IN" sz="2400" dirty="0">
                <a:solidFill>
                  <a:srgbClr val="C00000"/>
                </a:solidFill>
              </a:rPr>
              <a:t>Project Statement: </a:t>
            </a:r>
            <a:r>
              <a:rPr lang="en-IN" sz="2400" dirty="0">
                <a:solidFill>
                  <a:srgbClr val="0070C0"/>
                </a:solidFill>
              </a:rPr>
              <a:t>To develop</a:t>
            </a:r>
            <a:r>
              <a:rPr lang="en-US" sz="2400" dirty="0">
                <a:solidFill>
                  <a:srgbClr val="0070C0"/>
                </a:solidFill>
              </a:rPr>
              <a:t> a website that bridges the communication gap between Deaf and Dumb individuals and the hearing community through Sign Language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Recognition.</a:t>
            </a:r>
            <a:br>
              <a:rPr lang="en-IN" sz="2400" dirty="0">
                <a:solidFill>
                  <a:srgbClr val="C00000"/>
                </a:solidFill>
              </a:rPr>
            </a:br>
            <a:br>
              <a:rPr lang="en-IN" sz="2400" dirty="0">
                <a:solidFill>
                  <a:srgbClr val="C00000"/>
                </a:solidFill>
              </a:rPr>
            </a:b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0ED39FDC-BA72-F448-508E-801FD18D1EC7}"/>
              </a:ext>
            </a:extLst>
          </p:cNvPr>
          <p:cNvSpPr txBox="1">
            <a:spLocks/>
          </p:cNvSpPr>
          <p:nvPr/>
        </p:nvSpPr>
        <p:spPr>
          <a:xfrm>
            <a:off x="7569200" y="1523656"/>
            <a:ext cx="4586309" cy="4849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IN" sz="1800" b="1" dirty="0">
                <a:solidFill>
                  <a:srgbClr val="002060"/>
                </a:solidFill>
              </a:rPr>
              <a:t>Team Members :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solidFill>
                  <a:srgbClr val="002060"/>
                </a:solidFill>
                <a:latin typeface="Arial"/>
                <a:cs typeface="Arial"/>
              </a:rPr>
              <a:t>1</a:t>
            </a: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.M.SAI LOKESH                       21BQ1A42A6              </a:t>
            </a:r>
            <a:endParaRPr lang="en-IN" sz="1600" dirty="0">
              <a:solidFill>
                <a:srgbClr val="002060"/>
              </a:solidFill>
              <a:latin typeface="+mn-lt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2.M.KEERTHI                             21BQ1A42B5              </a:t>
            </a:r>
            <a:endParaRPr lang="en-IN" sz="1600" dirty="0">
              <a:solidFill>
                <a:srgbClr val="002060"/>
              </a:solidFill>
              <a:latin typeface="+mn-lt"/>
              <a:ea typeface="Calibri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3. M.NANDINI                           21BQ1A42A5        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4.A.MOHANA SANGEETHA     21BQ1A42B3             </a:t>
            </a:r>
            <a:endParaRPr lang="en-IN" sz="1600" dirty="0">
              <a:solidFill>
                <a:srgbClr val="002060"/>
              </a:solidFill>
              <a:latin typeface="+mn-lt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5.M.SRUTHI                               21BQ1A42C9             </a:t>
            </a:r>
            <a:endParaRPr lang="en-IN" sz="1600" dirty="0">
              <a:solidFill>
                <a:srgbClr val="002060"/>
              </a:solidFill>
              <a:latin typeface="+mn-lt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6. M.SIVA NAGA RAJU             21BQ1A42A1             </a:t>
            </a:r>
            <a:endParaRPr lang="en-IN" sz="1600" dirty="0">
              <a:solidFill>
                <a:srgbClr val="002060"/>
              </a:solidFill>
              <a:latin typeface="+mn-lt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7.P.VENKATA LOKESH               21BQ1A42C2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8. T.VARUN SRI HARSHA          21BQ1A42C3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9.K.VENKATA KYATHI                21BQ1A4283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10.CH.KAMAL VARDHAN        21BQ1A4271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11. M.VARDHAN KUMAR        21BQ1A4299</a:t>
            </a: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12.N.GANESH                           22BQ5A4210</a:t>
            </a:r>
            <a:endParaRPr lang="en-IN" sz="1600" dirty="0">
              <a:solidFill>
                <a:srgbClr val="002060"/>
              </a:solidFill>
              <a:latin typeface="+mn-lt"/>
              <a:ea typeface="Calibri"/>
              <a:cs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IN" sz="1600" dirty="0">
                <a:solidFill>
                  <a:srgbClr val="002060"/>
                </a:solidFill>
                <a:latin typeface="+mn-lt"/>
                <a:cs typeface="Arial"/>
              </a:rPr>
              <a:t>13.N.TRIVENI                             22BQ5A4211</a:t>
            </a:r>
            <a:endParaRPr lang="en-IN" sz="1600" dirty="0">
              <a:solidFill>
                <a:srgbClr val="002060"/>
              </a:solidFill>
              <a:latin typeface="+mn-lt"/>
              <a:ea typeface="Calibri"/>
              <a:cs typeface="Arial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-61782" y="1041169"/>
            <a:ext cx="2328464" cy="4824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>
                <a:solidFill>
                  <a:srgbClr val="0070C0"/>
                </a:solidFill>
              </a:rPr>
              <a:t>Batch : 2 (CSM-B)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F626EB42-4733-4979-0B1D-CE12EECF585D}"/>
              </a:ext>
            </a:extLst>
          </p:cNvPr>
          <p:cNvSpPr txBox="1">
            <a:spLocks/>
          </p:cNvSpPr>
          <p:nvPr/>
        </p:nvSpPr>
        <p:spPr>
          <a:xfrm>
            <a:off x="36490" y="4858293"/>
            <a:ext cx="2706710" cy="163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Project Guide:</a:t>
            </a:r>
          </a:p>
          <a:p>
            <a:pPr algn="l"/>
            <a:r>
              <a:rPr lang="en-IN" sz="2000" b="1" dirty="0">
                <a:solidFill>
                  <a:schemeClr val="accent2">
                    <a:lumMod val="50000"/>
                  </a:schemeClr>
                </a:solidFill>
              </a:rPr>
              <a:t>A .</a:t>
            </a:r>
            <a:r>
              <a:rPr lang="en-IN" sz="2000" b="1" dirty="0" err="1">
                <a:solidFill>
                  <a:schemeClr val="accent2">
                    <a:lumMod val="50000"/>
                  </a:schemeClr>
                </a:solidFill>
              </a:rPr>
              <a:t>Janardhana</a:t>
            </a: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</a:rPr>
              <a:t> Rao</a:t>
            </a:r>
            <a:endParaRPr lang="en-IN" sz="2000" b="1" dirty="0">
              <a:solidFill>
                <a:schemeClr val="accent2">
                  <a:lumMod val="50000"/>
                </a:schemeClr>
              </a:solidFill>
              <a:ea typeface="Calibri Light"/>
              <a:cs typeface="Calibri Light"/>
            </a:endParaRPr>
          </a:p>
          <a:p>
            <a:pPr algn="l"/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Associate Professor,</a:t>
            </a:r>
          </a:p>
          <a:p>
            <a:pPr algn="l"/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Dept. of CSE,</a:t>
            </a:r>
            <a:endParaRPr lang="en-IN" sz="2000" dirty="0">
              <a:solidFill>
                <a:schemeClr val="accent2">
                  <a:lumMod val="50000"/>
                </a:schemeClr>
              </a:solidFill>
              <a:ea typeface="Calibri Light"/>
              <a:cs typeface="Calibri Light"/>
            </a:endParaRPr>
          </a:p>
          <a:p>
            <a:pPr algn="l"/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VVIT</a:t>
            </a:r>
          </a:p>
        </p:txBody>
      </p:sp>
    </p:spTree>
    <p:extLst>
      <p:ext uri="{BB962C8B-B14F-4D97-AF65-F5344CB8AC3E}">
        <p14:creationId xmlns:p14="http://schemas.microsoft.com/office/powerpoint/2010/main" val="162911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</a:t>
            </a:r>
            <a:r>
              <a:rPr lang="en-US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ISem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E2E Project Review - 1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1840" y="1170764"/>
            <a:ext cx="8046750" cy="1034321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Title : </a:t>
            </a:r>
            <a:r>
              <a:rPr lang="en-IN" sz="2700" b="1" dirty="0" err="1">
                <a:solidFill>
                  <a:srgbClr val="C00000"/>
                </a:solidFill>
              </a:rPr>
              <a:t>SpeakEazy</a:t>
            </a:r>
            <a:br>
              <a:rPr lang="en-IN" sz="2700" b="1" dirty="0">
                <a:solidFill>
                  <a:srgbClr val="C00000"/>
                </a:solidFill>
              </a:rPr>
            </a:b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 dirty="0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AB93622A-777F-FC4F-A4C6-2B756A76C69E}"/>
              </a:ext>
            </a:extLst>
          </p:cNvPr>
          <p:cNvSpPr txBox="1">
            <a:spLocks/>
          </p:cNvSpPr>
          <p:nvPr/>
        </p:nvSpPr>
        <p:spPr>
          <a:xfrm>
            <a:off x="111760" y="1606366"/>
            <a:ext cx="5984240" cy="47842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Description:</a:t>
            </a:r>
          </a:p>
          <a:p>
            <a:pPr algn="l"/>
            <a:endParaRPr lang="en-IN" sz="13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A website that bridges the communication gap between Deaf and Dumb individuals and the hearing community through Sign Language</a:t>
            </a:r>
            <a:r>
              <a:rPr lang="en-I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 </a:t>
            </a: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Recognition.</a:t>
            </a:r>
          </a:p>
          <a:p>
            <a:pPr algn="l"/>
            <a:endParaRPr lang="en-IN" sz="15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This website leverages cutting-edge technology and artificial intelligence to facilitate seamless communication between sign language users and individuals who may not be proficient in sign language.</a:t>
            </a:r>
          </a:p>
          <a:p>
            <a:pPr algn="l"/>
            <a:endParaRPr lang="en-IN" sz="1500" dirty="0"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Here, we use a combination of computer vision , ML, and NLP techniques.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500" dirty="0"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Computer vision algorithms analyse video recordings or images of sign language users , detecting and tracking the movements of  their hands ,facial expressions and body postures.</a:t>
            </a:r>
          </a:p>
          <a:p>
            <a:pPr algn="l"/>
            <a:endParaRPr lang="en-IN" sz="1500" dirty="0"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The primary goal of our project is to develop a robust and accurate sign language recognition system that can understand and interpret various sign language gestures and expressions.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500" dirty="0"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Machine learning models are trained on large datasets of sign language samples , learning to recognize and associate specific gestures with their textual representation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500" dirty="0">
              <a:latin typeface="Arial" panose="020B0604020202020204" pitchFamily="34" charset="0"/>
              <a:ea typeface="+mj-lt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5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Converting sign language into text or audio holds tremendous potential for fostering inclusivity , breaking communication barriers and empowering individuals with hearing impairments to interact more in a hearing-dominated world</a:t>
            </a:r>
            <a:r>
              <a:rPr lang="en-IN" sz="13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7081520" y="1606366"/>
            <a:ext cx="4328816" cy="439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FUNCTIONAL REQUIREMENTS: (FEATURES)</a:t>
            </a:r>
          </a:p>
          <a:p>
            <a:pPr algn="l">
              <a:lnSpc>
                <a:spcPct val="100000"/>
              </a:lnSpc>
            </a:pPr>
            <a:endParaRPr lang="en-IN" sz="16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GESTURE TO VOICE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2.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GESTURE TO TEXT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3.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VOICE TO GESTURE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4.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TEXT TO GESTURE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5.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MULTILINGUAL SUPPORT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6.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USER AUTHENTICATION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7.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USER PROFILES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8.  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REAL TIME MESSAGING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 9. 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DATA STORAGE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10.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SECURITY MEASURES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11.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USER FEEDBACK AND RATINGS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12.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HELP AND SUPPORT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13.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GUEST LOGIN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14. 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VOICE TO TEXT</a:t>
            </a:r>
          </a:p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15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.  NOTEPAD </a:t>
            </a:r>
          </a:p>
        </p:txBody>
      </p:sp>
    </p:spTree>
    <p:extLst>
      <p:ext uri="{BB962C8B-B14F-4D97-AF65-F5344CB8AC3E}">
        <p14:creationId xmlns:p14="http://schemas.microsoft.com/office/powerpoint/2010/main" val="231297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38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 Sem</a:t>
            </a: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28" y="1476381"/>
            <a:ext cx="8358331" cy="470928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Title :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700" b="1" dirty="0" err="1">
                <a:solidFill>
                  <a:srgbClr val="C00000"/>
                </a:solidFill>
              </a:rPr>
              <a:t>SpeakEazy</a:t>
            </a:r>
            <a:endParaRPr lang="en-IN" sz="2400" dirty="0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AB93622A-777F-FC4F-A4C6-2B756A76C69E}"/>
              </a:ext>
            </a:extLst>
          </p:cNvPr>
          <p:cNvSpPr txBox="1">
            <a:spLocks/>
          </p:cNvSpPr>
          <p:nvPr/>
        </p:nvSpPr>
        <p:spPr>
          <a:xfrm>
            <a:off x="345751" y="1952522"/>
            <a:ext cx="5667970" cy="3854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Tools Required</a:t>
            </a:r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algn="l">
              <a:lnSpc>
                <a:spcPct val="100000"/>
              </a:lnSpc>
            </a:pPr>
            <a:endParaRPr lang="en-IN" sz="12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effectLst/>
                <a:latin typeface="Garamond"/>
                <a:ea typeface="Calibri"/>
                <a:cs typeface="Gautami"/>
              </a:rPr>
              <a:t>Frame Works:</a:t>
            </a:r>
            <a:r>
              <a:rPr lang="en-IN" sz="1600" kern="100" dirty="0">
                <a:effectLst/>
                <a:latin typeface="Garamond"/>
                <a:ea typeface="Calibri"/>
                <a:cs typeface="Gautami"/>
              </a:rPr>
              <a:t> React, Angular, Django, Express.js</a:t>
            </a:r>
            <a:endParaRPr lang="en-IN" sz="1600" kern="100" dirty="0">
              <a:latin typeface="Garamond" panose="02020404030301010803" pitchFamily="18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effectLst/>
                <a:latin typeface="Garamond"/>
                <a:ea typeface="Calibri"/>
                <a:cs typeface="Gautami"/>
              </a:rPr>
              <a:t>Front-End:</a:t>
            </a:r>
            <a:r>
              <a:rPr lang="en-IN" sz="1600" kern="100" dirty="0">
                <a:effectLst/>
                <a:latin typeface="Garamond"/>
                <a:ea typeface="Calibri"/>
                <a:cs typeface="Gautami"/>
              </a:rPr>
              <a:t> JavaScript, React Native.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effectLst/>
                <a:latin typeface="Garamond"/>
                <a:ea typeface="Calibri"/>
                <a:cs typeface="Gautami"/>
              </a:rPr>
              <a:t>Back-End:</a:t>
            </a:r>
            <a:r>
              <a:rPr lang="en-IN" sz="1600" dirty="0">
                <a:latin typeface="Garamond"/>
                <a:ea typeface="Calibri"/>
                <a:cs typeface="Gautami"/>
              </a:rPr>
              <a:t> </a:t>
            </a:r>
            <a:r>
              <a:rPr lang="en-IN" sz="1600" dirty="0">
                <a:effectLst/>
                <a:latin typeface="Garamond"/>
                <a:ea typeface="Calibri"/>
                <a:cs typeface="Gautami"/>
              </a:rPr>
              <a:t> MongoDB, Node.js, Express.js, Firebase Authentication, Python.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effectLst/>
                <a:latin typeface="Garamond"/>
                <a:ea typeface="Calibri"/>
                <a:cs typeface="Gautami"/>
              </a:rPr>
              <a:t>Business-Logic/ Models</a:t>
            </a:r>
            <a:r>
              <a:rPr lang="en-IN" sz="1600" dirty="0">
                <a:effectLst/>
                <a:latin typeface="Garamond"/>
                <a:ea typeface="Calibri"/>
                <a:cs typeface="Gautami"/>
              </a:rPr>
              <a:t>: ML, DL, NLP, CNN,</a:t>
            </a:r>
            <a:r>
              <a:rPr lang="en-IN" sz="1600" dirty="0">
                <a:latin typeface="Garamond"/>
                <a:ea typeface="Calibri"/>
                <a:cs typeface="Gautami"/>
              </a:rPr>
              <a:t> </a:t>
            </a:r>
            <a:r>
              <a:rPr lang="en-IN" sz="1600" dirty="0">
                <a:effectLst/>
                <a:latin typeface="Garamond"/>
                <a:ea typeface="Calibri"/>
                <a:cs typeface="Gautami"/>
              </a:rPr>
              <a:t>RNN, AWS, Computer Vison with Python</a:t>
            </a:r>
            <a:endParaRPr lang="en-IN" sz="1600" dirty="0">
              <a:solidFill>
                <a:srgbClr val="C55A11"/>
              </a:solidFill>
              <a:effectLst/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latin typeface="Garamond"/>
                <a:ea typeface="Calibri"/>
                <a:cs typeface="Gautami"/>
              </a:rPr>
              <a:t>       </a:t>
            </a:r>
            <a:r>
              <a:rPr lang="en-IN" sz="1600" b="1" kern="100" dirty="0">
                <a:effectLst/>
                <a:latin typeface="Garamond"/>
                <a:ea typeface="Calibri"/>
                <a:cs typeface="Gautami"/>
              </a:rPr>
              <a:t>Hardware Specifications: Mini Capacities for Execution </a:t>
            </a:r>
            <a:r>
              <a:rPr lang="en-IN" sz="1600" b="1" kern="100" dirty="0">
                <a:latin typeface="Garamond"/>
                <a:ea typeface="Calibri"/>
                <a:cs typeface="Gautami"/>
              </a:rPr>
              <a:t>o</a:t>
            </a:r>
            <a:r>
              <a:rPr lang="en-IN" sz="1600" b="1" kern="100" dirty="0">
                <a:effectLst/>
                <a:latin typeface="Garamond"/>
                <a:ea typeface="Calibri"/>
                <a:cs typeface="Gautami"/>
              </a:rPr>
              <a:t>f</a:t>
            </a:r>
            <a:r>
              <a:rPr lang="en-IN" sz="1600" b="1" kern="100" dirty="0">
                <a:latin typeface="Garamond"/>
                <a:ea typeface="Calibri"/>
                <a:cs typeface="Gautami"/>
              </a:rPr>
              <a:t> </a:t>
            </a:r>
            <a:r>
              <a:rPr lang="en-IN" sz="1600" b="1" kern="100" dirty="0">
                <a:effectLst/>
                <a:latin typeface="Garamond"/>
                <a:ea typeface="Calibri"/>
                <a:cs typeface="Gautami"/>
              </a:rPr>
              <a:t> Proposed System</a:t>
            </a: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   OS </a:t>
            </a:r>
            <a:r>
              <a:rPr lang="en-IN" sz="1600" b="1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: win 10x / Linux </a:t>
            </a: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    RAM </a:t>
            </a:r>
            <a:r>
              <a:rPr lang="en-IN" sz="1600" b="1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:   2 Gb</a:t>
            </a: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   HDD : 1 Tb</a:t>
            </a: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   Graphic-Card : 1 Gb</a:t>
            </a:r>
          </a:p>
          <a:p>
            <a:pPr marL="171450" indent="-1714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600" b="1" kern="100" dirty="0">
                <a:latin typeface="Calibri"/>
                <a:ea typeface="Calibri"/>
                <a:cs typeface="Gautami"/>
              </a:rPr>
              <a:t>    </a:t>
            </a:r>
            <a:r>
              <a:rPr lang="en-IN" sz="1600" b="1" kern="100" dirty="0">
                <a:effectLst/>
                <a:latin typeface="Calibri"/>
                <a:ea typeface="Calibri"/>
                <a:cs typeface="Gautami"/>
              </a:rPr>
              <a:t> </a:t>
            </a:r>
            <a:r>
              <a:rPr lang="en-IN" sz="1600" b="1" dirty="0">
                <a:effectLst/>
                <a:latin typeface="Garamond"/>
                <a:ea typeface="Calibri"/>
                <a:cs typeface="Gautami"/>
              </a:rPr>
              <a:t>Net-Bandwidth : 2 MBPS (for Cloud Computing or AWS</a:t>
            </a:r>
            <a:r>
              <a:rPr lang="en-IN" sz="1200" b="1" dirty="0">
                <a:effectLst/>
                <a:latin typeface="Garamond"/>
                <a:ea typeface="Calibri"/>
                <a:cs typeface="Gautami"/>
              </a:rPr>
              <a:t>)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6209071" y="1961534"/>
            <a:ext cx="5201265" cy="45313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 i="1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918C41-B5E8-CBC0-5BBB-62F2A898C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194" y="1838131"/>
            <a:ext cx="6390806" cy="404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0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38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 Sem</a:t>
            </a: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19" y="1260694"/>
            <a:ext cx="8358331" cy="470928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Title :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700" b="1" dirty="0" err="1">
                <a:solidFill>
                  <a:srgbClr val="C00000"/>
                </a:solidFill>
              </a:rPr>
              <a:t>SpeakEazy</a:t>
            </a:r>
            <a:endParaRPr lang="en-IN" sz="2400" dirty="0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AB93622A-777F-FC4F-A4C6-2B756A76C69E}"/>
              </a:ext>
            </a:extLst>
          </p:cNvPr>
          <p:cNvSpPr txBox="1">
            <a:spLocks/>
          </p:cNvSpPr>
          <p:nvPr/>
        </p:nvSpPr>
        <p:spPr>
          <a:xfrm>
            <a:off x="231816" y="1550962"/>
            <a:ext cx="5667970" cy="3854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IN" sz="1200" b="1" dirty="0">
              <a:effectLst/>
              <a:latin typeface="Garamond"/>
              <a:ea typeface="Calibri"/>
              <a:cs typeface="Gautami"/>
            </a:endParaRP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6209071" y="1961534"/>
            <a:ext cx="5201265" cy="45313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 i="1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9036B4-81DD-2E1A-3225-37F8C9DBA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05" y="2211283"/>
            <a:ext cx="9937102" cy="40921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D72591-2565-1DFE-3489-1E49D8805D11}"/>
              </a:ext>
            </a:extLst>
          </p:cNvPr>
          <p:cNvSpPr txBox="1"/>
          <p:nvPr/>
        </p:nvSpPr>
        <p:spPr>
          <a:xfrm flipH="1">
            <a:off x="4454230" y="1716477"/>
            <a:ext cx="3200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2">
                    <a:lumMod val="75000"/>
                  </a:schemeClr>
                </a:solidFill>
              </a:rPr>
              <a:t>Workflow diagram 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8768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8661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 Sem</a:t>
            </a: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4220131" y="3429000"/>
            <a:ext cx="1894114" cy="1034320"/>
          </a:xfrm>
        </p:spPr>
        <p:txBody>
          <a:bodyPr>
            <a:normAutofit/>
          </a:bodyPr>
          <a:lstStyle/>
          <a:p>
            <a:pPr algn="l"/>
            <a:endParaRPr lang="en-IN" sz="2400" dirty="0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2480290" y="979735"/>
            <a:ext cx="10694534" cy="3651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Tasks -Team member Allocation 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B3227341-210C-352F-8E9B-E79B13034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35714"/>
              </p:ext>
            </p:extLst>
          </p:nvPr>
        </p:nvGraphicFramePr>
        <p:xfrm>
          <a:off x="1987420" y="1362353"/>
          <a:ext cx="8108301" cy="514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68">
                  <a:extLst>
                    <a:ext uri="{9D8B030D-6E8A-4147-A177-3AD203B41FA5}">
                      <a16:colId xmlns:a16="http://schemas.microsoft.com/office/drawing/2014/main" val="2581275702"/>
                    </a:ext>
                  </a:extLst>
                </a:gridCol>
                <a:gridCol w="3272319">
                  <a:extLst>
                    <a:ext uri="{9D8B030D-6E8A-4147-A177-3AD203B41FA5}">
                      <a16:colId xmlns:a16="http://schemas.microsoft.com/office/drawing/2014/main" val="2894786833"/>
                    </a:ext>
                  </a:extLst>
                </a:gridCol>
                <a:gridCol w="3124214">
                  <a:extLst>
                    <a:ext uri="{9D8B030D-6E8A-4147-A177-3AD203B41FA5}">
                      <a16:colId xmlns:a16="http://schemas.microsoft.com/office/drawing/2014/main" val="936560652"/>
                    </a:ext>
                  </a:extLst>
                </a:gridCol>
              </a:tblGrid>
              <a:tr h="249698">
                <a:tc>
                  <a:txBody>
                    <a:bodyPr/>
                    <a:lstStyle/>
                    <a:p>
                      <a:r>
                        <a:rPr lang="en-IN" sz="1000" dirty="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FEATURES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TASKS TO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938323"/>
                  </a:ext>
                </a:extLst>
              </a:tr>
              <a:tr h="280911">
                <a:tc>
                  <a:txBody>
                    <a:bodyPr/>
                    <a:lstStyle/>
                    <a:p>
                      <a:r>
                        <a:rPr lang="en-IN" sz="1200" dirty="0"/>
                        <a:t>21BQ1A42A6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GESTURE TO TEXT , TEXT TO 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TRAINING AND TESTING THE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416551"/>
                  </a:ext>
                </a:extLst>
              </a:tr>
              <a:tr h="280911">
                <a:tc>
                  <a:txBody>
                    <a:bodyPr/>
                    <a:lstStyle/>
                    <a:p>
                      <a:r>
                        <a:rPr lang="en-IN" sz="1200" dirty="0"/>
                        <a:t>21BQ1A42B5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GESTURE TO TEXT, TEXT TO 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TRAINING AND TESTING THE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5272"/>
                  </a:ext>
                </a:extLst>
              </a:tr>
              <a:tr h="356857">
                <a:tc>
                  <a:txBody>
                    <a:bodyPr/>
                    <a:lstStyle/>
                    <a:p>
                      <a:r>
                        <a:rPr lang="en-IN" sz="1200" dirty="0"/>
                        <a:t>,21BQ1A42A5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USER AUTHENTICATION , USER PROFILE , GUEST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USER PROFILE AND GUEST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125090"/>
                  </a:ext>
                </a:extLst>
              </a:tr>
              <a:tr h="405760">
                <a:tc>
                  <a:txBody>
                    <a:bodyPr/>
                    <a:lstStyle/>
                    <a:p>
                      <a:r>
                        <a:rPr lang="en-IN" sz="1200" dirty="0"/>
                        <a:t>21BQ1A42B3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DATA STORAGE , MULTI 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STORING THE DATA IN GOOGLE CLOUD ,API CONNECTION, AND LEARNING EXPRESS.JS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688572"/>
                  </a:ext>
                </a:extLst>
              </a:tr>
              <a:tr h="356857">
                <a:tc>
                  <a:txBody>
                    <a:bodyPr/>
                    <a:lstStyle/>
                    <a:p>
                      <a:r>
                        <a:rPr lang="en-IN" sz="1200" dirty="0"/>
                        <a:t>21BQ1A42C9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USER AUTHENTICATION , USER PROFILE , GUEST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USER PROFILE AND GUEST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12199"/>
                  </a:ext>
                </a:extLst>
              </a:tr>
              <a:tr h="280911">
                <a:tc>
                  <a:txBody>
                    <a:bodyPr/>
                    <a:lstStyle/>
                    <a:p>
                      <a:r>
                        <a:rPr lang="en-IN" sz="1200" dirty="0"/>
                        <a:t>21BQ1A42A1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GESTURE TO TEXT, TEXT TO 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TRAINING AND TESTING THE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31353"/>
                  </a:ext>
                </a:extLst>
              </a:tr>
              <a:tr h="280911">
                <a:tc>
                  <a:txBody>
                    <a:bodyPr/>
                    <a:lstStyle/>
                    <a:p>
                      <a:r>
                        <a:rPr lang="en-IN" sz="1200" dirty="0"/>
                        <a:t>21BQ1A42C2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REAL TIME MESSAGING ,  SECURITY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ESTABLISHING CONNECTION BETWEEN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48197"/>
                  </a:ext>
                </a:extLst>
              </a:tr>
              <a:tr h="350966">
                <a:tc>
                  <a:txBody>
                    <a:bodyPr/>
                    <a:lstStyle/>
                    <a:p>
                      <a:r>
                        <a:rPr lang="en-IN" sz="1200" dirty="0"/>
                        <a:t>21BQ1A42C3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REAL TIME MESSAGING , SECURITY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ESTABLISHING CONNECTION BETWEEN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778792"/>
                  </a:ext>
                </a:extLst>
              </a:tr>
              <a:tr h="436972">
                <a:tc>
                  <a:txBody>
                    <a:bodyPr/>
                    <a:lstStyle/>
                    <a:p>
                      <a:r>
                        <a:rPr lang="en-IN" sz="1200" dirty="0"/>
                        <a:t>21BQ1A4283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GESTURE TO VOICE ,</a:t>
                      </a:r>
                    </a:p>
                    <a:p>
                      <a:r>
                        <a:rPr lang="en-IN" sz="1100" dirty="0"/>
                        <a:t> VOICE TO 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VOICE TO GESTURE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232021"/>
                  </a:ext>
                </a:extLst>
              </a:tr>
              <a:tr h="405760">
                <a:tc>
                  <a:txBody>
                    <a:bodyPr/>
                    <a:lstStyle/>
                    <a:p>
                      <a:r>
                        <a:rPr lang="en-IN" sz="1200" dirty="0"/>
                        <a:t>21BQ1A4271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DATA STORAGE , MULTI 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STORING THE DATA IN GOOGLE CLOUD ,API CONNECTION, AND LEARNING EXPRESS.JS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673052"/>
                  </a:ext>
                </a:extLst>
              </a:tr>
              <a:tr h="436972">
                <a:tc>
                  <a:txBody>
                    <a:bodyPr/>
                    <a:lstStyle/>
                    <a:p>
                      <a:r>
                        <a:rPr lang="en-IN" sz="1200" dirty="0"/>
                        <a:t>21BQ1A4299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GESTURE TO VOICE ,VOICE TO 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VOICE TO GESTURE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89190"/>
                  </a:ext>
                </a:extLst>
              </a:tr>
              <a:tr h="445004">
                <a:tc>
                  <a:txBody>
                    <a:bodyPr/>
                    <a:lstStyle/>
                    <a:p>
                      <a:r>
                        <a:rPr lang="en-IN" sz="1200" dirty="0"/>
                        <a:t>22BQ5A4210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USER FEEDBACK &amp;RATING , NOTEPAD,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HELP &amp;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USER FEEDBACK &amp;RATING , NOTEPAD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902048"/>
                  </a:ext>
                </a:extLst>
              </a:tr>
              <a:tr h="436972">
                <a:tc>
                  <a:txBody>
                    <a:bodyPr/>
                    <a:lstStyle/>
                    <a:p>
                      <a:r>
                        <a:rPr lang="en-IN" sz="1200" dirty="0"/>
                        <a:t>22BQ5A4211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USER FEEDBACK &amp;RATING , NOTEPAD</a:t>
                      </a:r>
                    </a:p>
                    <a:p>
                      <a:r>
                        <a:rPr lang="en-IN" sz="1100" dirty="0"/>
                        <a:t>HELP AND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USER FEEDBACK &amp;RATING , NOTEPAD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52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15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 Sem</a:t>
            </a: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4755" y="1038522"/>
            <a:ext cx="8485227" cy="1260861"/>
          </a:xfrm>
        </p:spPr>
        <p:txBody>
          <a:bodyPr>
            <a:normAutofit/>
          </a:bodyPr>
          <a:lstStyle/>
          <a:p>
            <a:pPr algn="l"/>
            <a:br>
              <a:rPr lang="en-IN" sz="2700" b="1" dirty="0">
                <a:solidFill>
                  <a:srgbClr val="C00000"/>
                </a:solidFill>
              </a:rPr>
            </a:b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IN" sz="2400" dirty="0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2717815" y="948372"/>
            <a:ext cx="5506063" cy="4538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Project Team member Learning Status:</a:t>
            </a: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B3227341-210C-352F-8E9B-E79B13034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76816"/>
              </p:ext>
            </p:extLst>
          </p:nvPr>
        </p:nvGraphicFramePr>
        <p:xfrm>
          <a:off x="1922106" y="1469924"/>
          <a:ext cx="8192277" cy="500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759">
                  <a:extLst>
                    <a:ext uri="{9D8B030D-6E8A-4147-A177-3AD203B41FA5}">
                      <a16:colId xmlns:a16="http://schemas.microsoft.com/office/drawing/2014/main" val="2581275702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2894786833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936560652"/>
                    </a:ext>
                  </a:extLst>
                </a:gridCol>
              </a:tblGrid>
              <a:tr h="390172">
                <a:tc>
                  <a:txBody>
                    <a:bodyPr/>
                    <a:lstStyle/>
                    <a:p>
                      <a:r>
                        <a:rPr lang="en-IN" sz="100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Tools Learning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Status (Certification / Non Certification)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938323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 dirty="0"/>
                        <a:t>21BQ1A42A6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*CNN ,RNN ,LSTM ,Media Pipe</a:t>
                      </a:r>
                    </a:p>
                    <a:p>
                      <a:r>
                        <a:rPr lang="en-IN" sz="1000" dirty="0"/>
                        <a:t>*OpenCV ,TensorFlow , </a:t>
                      </a:r>
                      <a:r>
                        <a:rPr lang="en-IN" sz="1000" dirty="0" err="1"/>
                        <a:t>Keras</a:t>
                      </a:r>
                      <a:r>
                        <a:rPr lang="en-IN" sz="1000" dirty="0"/>
                        <a:t> , </a:t>
                      </a:r>
                      <a:r>
                        <a:rPr lang="en-IN" sz="1000" dirty="0" err="1"/>
                        <a:t>Mobilenet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416551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21BQ1A42B5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*CNN ,RNN ,LSTM ,Media Pipe</a:t>
                      </a:r>
                    </a:p>
                    <a:p>
                      <a:r>
                        <a:rPr lang="en-IN" sz="1000" dirty="0"/>
                        <a:t>*OpenCV ,TensorFlow , </a:t>
                      </a:r>
                      <a:r>
                        <a:rPr lang="en-IN" sz="1000" dirty="0" err="1"/>
                        <a:t>Keras</a:t>
                      </a:r>
                      <a:r>
                        <a:rPr lang="en-IN" sz="1000" dirty="0"/>
                        <a:t> , </a:t>
                      </a:r>
                      <a:r>
                        <a:rPr lang="en-IN" sz="1000" dirty="0" err="1"/>
                        <a:t>Mobilenet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5272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21BQ1A42A5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 HTML, CSS , JavaScript,React,Angular,Vue.js</a:t>
                      </a:r>
                    </a:p>
                    <a:p>
                      <a:r>
                        <a:rPr lang="en-IN" sz="1000" dirty="0"/>
                        <a:t>*TypeScript ,Bootstrap , </a:t>
                      </a:r>
                      <a:r>
                        <a:rPr lang="en-IN" sz="1000" dirty="0" err="1"/>
                        <a:t>figma</a:t>
                      </a:r>
                      <a:r>
                        <a:rPr lang="en-IN" sz="1000" dirty="0"/>
                        <a:t> , </a:t>
                      </a:r>
                      <a:r>
                        <a:rPr lang="en-IN" sz="1000" dirty="0" err="1"/>
                        <a:t>canva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125090"/>
                  </a:ext>
                </a:extLst>
              </a:tr>
              <a:tr h="262616">
                <a:tc>
                  <a:txBody>
                    <a:bodyPr/>
                    <a:lstStyle/>
                    <a:p>
                      <a:r>
                        <a:rPr lang="en-IN" sz="1000"/>
                        <a:t>21BQ1A42B3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*Express.js, Multi Language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NOT YET 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688572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21BQ1A42C9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 HTML, CSS , JavaScript,React,Angular,Vue.js</a:t>
                      </a:r>
                    </a:p>
                    <a:p>
                      <a:r>
                        <a:rPr lang="en-IN" sz="1000" dirty="0"/>
                        <a:t>*TypeScript ,Bootstrap , </a:t>
                      </a:r>
                      <a:r>
                        <a:rPr lang="en-IN" sz="1000" dirty="0" err="1"/>
                        <a:t>figma</a:t>
                      </a:r>
                      <a:r>
                        <a:rPr lang="en-IN" sz="1000" dirty="0"/>
                        <a:t>, </a:t>
                      </a:r>
                      <a:r>
                        <a:rPr lang="en-IN" sz="1000" dirty="0" err="1"/>
                        <a:t>canva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12199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 dirty="0"/>
                        <a:t>21BQ1A42A1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*CNN ,RNN ,LSTM ,Media Pipe</a:t>
                      </a:r>
                    </a:p>
                    <a:p>
                      <a:r>
                        <a:rPr lang="en-IN" sz="1000" dirty="0"/>
                        <a:t>*OpenCV ,TensorFlow , </a:t>
                      </a:r>
                      <a:r>
                        <a:rPr lang="en-IN" sz="1000" dirty="0" err="1"/>
                        <a:t>Keras</a:t>
                      </a:r>
                      <a:r>
                        <a:rPr lang="en-IN" sz="1000" dirty="0"/>
                        <a:t> , </a:t>
                      </a:r>
                      <a:r>
                        <a:rPr lang="en-IN" sz="1000" dirty="0" err="1"/>
                        <a:t>Mobilenet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31353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21BQ1A42C2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*HTTP Long Polling</a:t>
                      </a:r>
                    </a:p>
                    <a:p>
                      <a:r>
                        <a:rPr lang="en-IN" sz="1000" dirty="0"/>
                        <a:t>*WebRTC (Web Real-Time Communication)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NOT YET 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48197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21BQ1A42C3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*HTTP Long Polling</a:t>
                      </a:r>
                    </a:p>
                    <a:p>
                      <a:r>
                        <a:rPr lang="en-IN" sz="1000" dirty="0"/>
                        <a:t>*WebRTC (Web Real-Time Communication)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NOT YET 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778792"/>
                  </a:ext>
                </a:extLst>
              </a:tr>
              <a:tr h="262616">
                <a:tc>
                  <a:txBody>
                    <a:bodyPr/>
                    <a:lstStyle/>
                    <a:p>
                      <a:r>
                        <a:rPr lang="en-IN" sz="1000"/>
                        <a:t>21BQ1A4283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*Pyttsx3, Speech recognition, </a:t>
                      </a:r>
                      <a:r>
                        <a:rPr lang="en-IN" sz="1000" dirty="0" err="1"/>
                        <a:t>Pyaudio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232021"/>
                  </a:ext>
                </a:extLst>
              </a:tr>
              <a:tr h="262616">
                <a:tc>
                  <a:txBody>
                    <a:bodyPr/>
                    <a:lstStyle/>
                    <a:p>
                      <a:r>
                        <a:rPr lang="en-IN" sz="1000"/>
                        <a:t>21BQ1A4271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*Express.js, Multi Language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NOT YET 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673052"/>
                  </a:ext>
                </a:extLst>
              </a:tr>
              <a:tr h="258560">
                <a:tc>
                  <a:txBody>
                    <a:bodyPr/>
                    <a:lstStyle/>
                    <a:p>
                      <a:r>
                        <a:rPr lang="en-IN" sz="1000"/>
                        <a:t>21BQ1A4299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*Pyttsx3, Speech recognition, </a:t>
                      </a:r>
                      <a:r>
                        <a:rPr lang="en-IN" sz="1000" dirty="0" err="1"/>
                        <a:t>Pyaudio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89190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22BQ5A4210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*HTML/CSS/JavaScript</a:t>
                      </a:r>
                    </a:p>
                    <a:p>
                      <a:r>
                        <a:rPr lang="en-IN" sz="1000" dirty="0"/>
                        <a:t>*Feedback Forms, Knowledge base and FAQs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 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902048"/>
                  </a:ext>
                </a:extLst>
              </a:tr>
              <a:tr h="389292">
                <a:tc>
                  <a:txBody>
                    <a:bodyPr/>
                    <a:lstStyle/>
                    <a:p>
                      <a:r>
                        <a:rPr lang="en-IN" sz="1000"/>
                        <a:t>22BQ5A4211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*HTML/CSS/JavaScript</a:t>
                      </a:r>
                    </a:p>
                    <a:p>
                      <a:r>
                        <a:rPr lang="en-IN" sz="1000" dirty="0"/>
                        <a:t>*Feedback Forms, Knowledge base and FAQs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52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34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0" y="6492874"/>
            <a:ext cx="12155510" cy="3651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01193" cy="10193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70847" y="14497"/>
            <a:ext cx="668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CSE-AIML (CSM) – III-II Sem</a:t>
            </a: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E2E Project Review - 1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A3C0EA74-AF6F-4D13-A6EB-373273A80B3D}" type="datetime1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10/4/2023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6BB2C59-3266-410E-B1B0-1799FFBD1D52}" type="slidenum">
              <a:rPr lang="en-US" sz="1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58A8544-7AAC-FD12-5C87-F2E75DA3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588" y="-4164"/>
            <a:ext cx="8323137" cy="1474087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Title: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 </a:t>
            </a:r>
            <a:r>
              <a:rPr lang="en-IN" sz="2700" b="1" dirty="0" err="1">
                <a:solidFill>
                  <a:srgbClr val="C00000"/>
                </a:solidFill>
              </a:rPr>
              <a:t>SpeakEazy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5C0DFF0-5987-76AA-1877-B16FBC23A56B}"/>
              </a:ext>
            </a:extLst>
          </p:cNvPr>
          <p:cNvSpPr txBox="1">
            <a:spLocks/>
          </p:cNvSpPr>
          <p:nvPr/>
        </p:nvSpPr>
        <p:spPr>
          <a:xfrm>
            <a:off x="1" y="1051466"/>
            <a:ext cx="1440425" cy="418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srgbClr val="0070C0"/>
                </a:solidFill>
              </a:rPr>
              <a:t>Batch 2:</a:t>
            </a:r>
          </a:p>
        </p:txBody>
      </p:sp>
      <p:sp>
        <p:nvSpPr>
          <p:cNvPr id="3" name="Title 10">
            <a:hlinkClick r:id="rId4"/>
            <a:extLst>
              <a:ext uri="{FF2B5EF4-FFF2-40B4-BE49-F238E27FC236}">
                <a16:creationId xmlns:a16="http://schemas.microsoft.com/office/drawing/2014/main" id="{4E5EBCAC-6077-CAC8-8916-4E875E909070}"/>
              </a:ext>
            </a:extLst>
          </p:cNvPr>
          <p:cNvSpPr txBox="1">
            <a:spLocks/>
          </p:cNvSpPr>
          <p:nvPr/>
        </p:nvSpPr>
        <p:spPr>
          <a:xfrm>
            <a:off x="0" y="1425643"/>
            <a:ext cx="6597990" cy="680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Project Prototype:</a:t>
            </a:r>
          </a:p>
          <a:p>
            <a:pPr algn="l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Prototype link : </a:t>
            </a:r>
            <a:r>
              <a:rPr lang="en-IN" sz="2400" b="1" u="sng" dirty="0">
                <a:solidFill>
                  <a:schemeClr val="accent2">
                    <a:lumMod val="75000"/>
                  </a:schemeClr>
                </a:solidFill>
                <a:hlinkClick r:id="rId4"/>
              </a:rPr>
              <a:t>https://app.uizard.io/p/ec638e1e</a:t>
            </a:r>
            <a:endParaRPr lang="en-IN" sz="24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567642-E081-D801-9748-F78AD78777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05" y="2456076"/>
            <a:ext cx="2215376" cy="13578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F6451F-58E7-342B-FE59-5A57570824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588" y="2346275"/>
            <a:ext cx="2400800" cy="16816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EE5891-0ADB-BF58-16D9-8F753D940D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305" y="2502410"/>
            <a:ext cx="2473061" cy="15075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B150C9-A6DF-785C-54D3-4272AA9987C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023" y="4351773"/>
            <a:ext cx="2285646" cy="1457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815B18-85DA-6567-CF3E-E3594A99A04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152" y="4354217"/>
            <a:ext cx="2400800" cy="18214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E49F0A-8698-C68F-9023-DF7A91AB9D1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05" y="4315020"/>
            <a:ext cx="2287534" cy="188917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 Model 22" descr="Thick Arrow">
                <a:extLst>
                  <a:ext uri="{FF2B5EF4-FFF2-40B4-BE49-F238E27FC236}">
                    <a16:creationId xmlns:a16="http://schemas.microsoft.com/office/drawing/2014/main" id="{44A1AE6F-1126-8308-D819-5CBAD66AC5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19757085"/>
                  </p:ext>
                </p:extLst>
              </p:nvPr>
            </p:nvGraphicFramePr>
            <p:xfrm>
              <a:off x="3093311" y="3149600"/>
              <a:ext cx="625247" cy="291199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625247" cy="291199"/>
                    </a:xfrm>
                    <a:prstGeom prst="rect">
                      <a:avLst/>
                    </a:prstGeom>
                  </am3d:spPr>
                  <am3d:camera>
                    <am3d:pos x="0" y="0" z="526841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08809" d="1000000"/>
                    <am3d:preTrans dx="0" dy="-838313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7077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 Model 22" descr="Thick Arrow">
                <a:extLst>
                  <a:ext uri="{FF2B5EF4-FFF2-40B4-BE49-F238E27FC236}">
                    <a16:creationId xmlns:a16="http://schemas.microsoft.com/office/drawing/2014/main" id="{44A1AE6F-1126-8308-D819-5CBAD66AC5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93311" y="3149600"/>
                <a:ext cx="625247" cy="291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3D Model 23" descr="Thick Arrow">
                <a:extLst>
                  <a:ext uri="{FF2B5EF4-FFF2-40B4-BE49-F238E27FC236}">
                    <a16:creationId xmlns:a16="http://schemas.microsoft.com/office/drawing/2014/main" id="{8C2F4E29-75EA-6BA5-87D4-A167FAACFE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3687979"/>
                  </p:ext>
                </p:extLst>
              </p:nvPr>
            </p:nvGraphicFramePr>
            <p:xfrm flipV="1">
              <a:off x="6544598" y="2853687"/>
              <a:ext cx="648682" cy="474714"/>
            </p:xfrm>
            <a:graphic>
              <a:graphicData uri="http://schemas.microsoft.com/office/drawing/2017/model3d">
                <am3d:model3d r:embed="rId11">
                  <am3d:spPr>
                    <a:xfrm flipV="1">
                      <a:off x="0" y="0"/>
                      <a:ext cx="648682" cy="474714"/>
                    </a:xfrm>
                    <a:prstGeom prst="rect">
                      <a:avLst/>
                    </a:prstGeom>
                  </am3d:spPr>
                  <am3d:camera>
                    <am3d:pos x="0" y="0" z="526841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08809" d="1000000"/>
                    <am3d:preTrans dx="0" dy="-838313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02941" ay="291896" az="69349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6987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3D Model 23" descr="Thick Arrow">
                <a:extLst>
                  <a:ext uri="{FF2B5EF4-FFF2-40B4-BE49-F238E27FC236}">
                    <a16:creationId xmlns:a16="http://schemas.microsoft.com/office/drawing/2014/main" id="{8C2F4E29-75EA-6BA5-87D4-A167FAACFE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flipV="1">
                <a:off x="6544598" y="2853687"/>
                <a:ext cx="648682" cy="474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3D Model 24" descr="Red reverse thick arrow">
                <a:extLst>
                  <a:ext uri="{FF2B5EF4-FFF2-40B4-BE49-F238E27FC236}">
                    <a16:creationId xmlns:a16="http://schemas.microsoft.com/office/drawing/2014/main" id="{652BA5AF-4C26-581C-35B3-1DC7240B45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5739676"/>
                  </p:ext>
                </p:extLst>
              </p:nvPr>
            </p:nvGraphicFramePr>
            <p:xfrm>
              <a:off x="10137852" y="3706387"/>
              <a:ext cx="986661" cy="626151"/>
            </p:xfrm>
            <a:graphic>
              <a:graphicData uri="http://schemas.microsoft.com/office/drawing/2017/model3d">
                <am3d:model3d r:embed="rId14">
                  <am3d:spPr>
                    <a:xfrm>
                      <a:off x="0" y="0"/>
                      <a:ext cx="986661" cy="626151"/>
                    </a:xfrm>
                    <a:prstGeom prst="rect">
                      <a:avLst/>
                    </a:prstGeom>
                  </am3d:spPr>
                  <am3d:camera>
                    <am3d:pos x="0" y="0" z="553404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216795" d="1000000"/>
                    <am3d:preTrans dx="0" dy="-111222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150440" ay="-986318" az="693097"/>
                    <am3d:postTrans dx="0" dy="0" dz="0"/>
                  </am3d:trans>
                  <am3d:raster rName="Office3DRenderer" rVer="16.0.8326">
                    <am3d:blip r:embed="rId15"/>
                  </am3d:raster>
                  <am3d:objViewport viewportSz="11005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3D Model 24" descr="Red reverse thick arrow">
                <a:extLst>
                  <a:ext uri="{FF2B5EF4-FFF2-40B4-BE49-F238E27FC236}">
                    <a16:creationId xmlns:a16="http://schemas.microsoft.com/office/drawing/2014/main" id="{652BA5AF-4C26-581C-35B3-1DC7240B45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37852" y="3706387"/>
                <a:ext cx="986661" cy="626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 Model 25" descr="Thick Arrow">
                <a:extLst>
                  <a:ext uri="{FF2B5EF4-FFF2-40B4-BE49-F238E27FC236}">
                    <a16:creationId xmlns:a16="http://schemas.microsoft.com/office/drawing/2014/main" id="{B0FC8D4B-A307-83BA-8D72-486B2DB7A3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322306"/>
                  </p:ext>
                </p:extLst>
              </p:nvPr>
            </p:nvGraphicFramePr>
            <p:xfrm>
              <a:off x="2984722" y="4924474"/>
              <a:ext cx="761550" cy="341531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761550" cy="341531"/>
                    </a:xfrm>
                    <a:prstGeom prst="rect">
                      <a:avLst/>
                    </a:prstGeom>
                  </am3d:spPr>
                  <am3d:camera>
                    <am3d:pos x="0" y="0" z="526841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08809" d="1000000"/>
                    <am3d:preTrans dx="0" dy="-838313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199419" ay="89363" az="10755110"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7993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 Model 25" descr="Thick Arrow">
                <a:extLst>
                  <a:ext uri="{FF2B5EF4-FFF2-40B4-BE49-F238E27FC236}">
                    <a16:creationId xmlns:a16="http://schemas.microsoft.com/office/drawing/2014/main" id="{B0FC8D4B-A307-83BA-8D72-486B2DB7A3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84722" y="4924474"/>
                <a:ext cx="761550" cy="341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7" name="3D Model 26" descr="Thick Arrow">
                <a:extLst>
                  <a:ext uri="{FF2B5EF4-FFF2-40B4-BE49-F238E27FC236}">
                    <a16:creationId xmlns:a16="http://schemas.microsoft.com/office/drawing/2014/main" id="{4DB02423-A4B4-0A47-09E1-1FF037ACA0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9929993"/>
                  </p:ext>
                </p:extLst>
              </p:nvPr>
            </p:nvGraphicFramePr>
            <p:xfrm>
              <a:off x="6635919" y="4954136"/>
              <a:ext cx="645802" cy="314485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645802" cy="314485"/>
                    </a:xfrm>
                    <a:prstGeom prst="rect">
                      <a:avLst/>
                    </a:prstGeom>
                  </am3d:spPr>
                  <am3d:camera>
                    <am3d:pos x="0" y="0" z="526841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08809" d="1000000"/>
                    <am3d:preTrans dx="0" dy="-838313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749448" ay="-499945" az="10792680"/>
                    <am3d:postTrans dx="0" dy="0" dz="0"/>
                  </am3d:trans>
                  <am3d:raster rName="Office3DRenderer" rVer="16.0.8326">
                    <am3d:blip r:embed="rId17"/>
                  </am3d:raster>
                  <am3d:objViewport viewportSz="7188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7" name="3D Model 26" descr="Thick Arrow">
                <a:extLst>
                  <a:ext uri="{FF2B5EF4-FFF2-40B4-BE49-F238E27FC236}">
                    <a16:creationId xmlns:a16="http://schemas.microsoft.com/office/drawing/2014/main" id="{4DB02423-A4B4-0A47-09E1-1FF037ACA0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35919" y="4954136"/>
                <a:ext cx="645802" cy="3144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629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2A126146770F45A6EE78BA0994C525" ma:contentTypeVersion="5" ma:contentTypeDescription="Create a new document." ma:contentTypeScope="" ma:versionID="5faf9e84af34a7275d5e7e401791b919">
  <xsd:schema xmlns:xsd="http://www.w3.org/2001/XMLSchema" xmlns:xs="http://www.w3.org/2001/XMLSchema" xmlns:p="http://schemas.microsoft.com/office/2006/metadata/properties" xmlns:ns3="72afb81b-95fd-4aea-a7a5-37e845436cb6" targetNamespace="http://schemas.microsoft.com/office/2006/metadata/properties" ma:root="true" ma:fieldsID="baabd13df6b18d57ca2ea35f22c5323d" ns3:_="">
    <xsd:import namespace="72afb81b-95fd-4aea-a7a5-37e845436c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afb81b-95fd-4aea-a7a5-37e845436c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18F9CE-527B-4496-986D-4C78872209C7}">
  <ds:schemaRefs>
    <ds:schemaRef ds:uri="72afb81b-95fd-4aea-a7a5-37e845436c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77C8C4B-256F-4CCA-97C1-E8CF4741937C}">
  <ds:schemaRefs>
    <ds:schemaRef ds:uri="72afb81b-95fd-4aea-a7a5-37e845436c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493D129-80E1-4731-A9D9-BFE2CBC475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sign_language_presentation_csm_b[1]</Template>
  <TotalTime>298</TotalTime>
  <Words>1141</Words>
  <Application>Microsoft Office PowerPoint</Application>
  <PresentationFormat>Widescreen</PresentationFormat>
  <Paragraphs>229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Garamond</vt:lpstr>
      <vt:lpstr>Times New Roman</vt:lpstr>
      <vt:lpstr>Wingdings</vt:lpstr>
      <vt:lpstr>Office Theme</vt:lpstr>
      <vt:lpstr>Project Title: SpeakEazy  Project Statement: To develop a website that bridges the communication gap between Deaf and Dumb individuals and the hearing community through Sign Language Recognition.  </vt:lpstr>
      <vt:lpstr>Project Title : SpeakEazy  </vt:lpstr>
      <vt:lpstr>Project Title : SpeakEazy</vt:lpstr>
      <vt:lpstr>Project Title : SpeakEazy</vt:lpstr>
      <vt:lpstr>PowerPoint Presentation</vt:lpstr>
      <vt:lpstr>  </vt:lpstr>
      <vt:lpstr>Project Title: SpeakEazy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SpeakEazy</dc:title>
  <dc:creator>Mohana sangeetha</dc:creator>
  <cp:lastModifiedBy>MANCHALA NANDINI</cp:lastModifiedBy>
  <cp:revision>6</cp:revision>
  <dcterms:created xsi:type="dcterms:W3CDTF">2023-10-03T18:05:14Z</dcterms:created>
  <dcterms:modified xsi:type="dcterms:W3CDTF">2023-10-04T08:32:55Z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0x0101001F2A126146770F45A6EE78BA0994C525</vt:lpwstr>
  </property>
</Properties>
</file>